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68680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371600" y="4114800"/>
            <a:ext cx="3200400" cy="3200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858000" y="457200"/>
            <a:ext cx="4572000" cy="457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457200" y="5486400"/>
            <a:ext cx="11430000" cy="9144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9875520" y="4297680"/>
            <a:ext cx="1280160" cy="1280160"/>
          </a:xfrm>
          <a:prstGeom prst="ellipse">
            <a:avLst/>
          </a:prstGeom>
          <a:solidFill>
            <a:srgbClr val="7B1E2D">
              <a:alpha val="85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10881360" y="5120640"/>
            <a:ext cx="365760" cy="36576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274320" y="457200"/>
            <a:ext cx="640080" cy="640080"/>
          </a:xfrm>
          <a:prstGeom prst="ellipse">
            <a:avLst/>
          </a:prstGeom>
          <a:solidFill>
            <a:srgbClr val="7B1E2D">
              <a:alpha val="8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 rot="-180000">
            <a:off x="-914400" y="5943600"/>
            <a:ext cx="146304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520  ·  FINANCIAL ENGINEERING IN PYTHON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914400" y="1371600"/>
            <a:ext cx="731520" cy="36576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fintel</a:t>
            </a:r>
            <a:endParaRPr lang="en-US" sz="11000" dirty="0"/>
          </a:p>
        </p:txBody>
      </p:sp>
      <p:sp>
        <p:nvSpPr>
          <p:cNvPr id="14" name="Text 8"/>
          <p:cNvSpPr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Telemetry &amp; Observability</a:t>
            </a:r>
            <a:endParaRPr lang="en-US" sz="3000" dirty="0"/>
          </a:p>
        </p:txBody>
      </p:sp>
      <p:sp>
        <p:nvSpPr>
          <p:cNvPr id="15" name="Shape 9"/>
          <p:cNvSpPr/>
          <p:nvPr/>
        </p:nvSpPr>
        <p:spPr>
          <a:xfrm>
            <a:off x="914400" y="3931920"/>
            <a:ext cx="128016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OpenTelemetry-Inspired Python Package for Quantitative Market Monitoring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14400" y="5074920"/>
            <a:ext cx="5120640" cy="1188720"/>
          </a:xfrm>
          <a:prstGeom prst="rect">
            <a:avLst/>
          </a:prstGeom>
          <a:solidFill>
            <a:srgbClr val="0B2545"/>
          </a:solidFill>
          <a:ln w="15875">
            <a:solidFill>
              <a:srgbClr val="7B1E2D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097280" y="5166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Maruthi Kunchala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520 · Stevens Institute of Technology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 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29600" y="5989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26,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 of Discussion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772400" y="5120640"/>
            <a:ext cx="411480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338560" y="914400"/>
            <a:ext cx="640080" cy="640080"/>
          </a:xfrm>
          <a:prstGeom prst="ellipse">
            <a:avLst/>
          </a:prstGeom>
          <a:solidFill>
            <a:srgbClr val="7B1E2D">
              <a:alpha val="15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0" y="5943600"/>
            <a:ext cx="365760" cy="365760"/>
          </a:xfrm>
          <a:prstGeom prst="ellipse">
            <a:avLst/>
          </a:prstGeom>
          <a:solidFill>
            <a:srgbClr val="0B2545">
              <a:alpha val="1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17320" y="246888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17320" y="246888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4688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17320" y="301752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417320" y="301752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00200" y="30175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 · The Three Pillars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417320" y="356616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417320" y="356616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00200" y="3566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417320" y="411480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417320" y="411480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00200" y="41148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 · Signals, Metrics, Alerts, Dashboard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417320" y="466344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417320" y="466344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46634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 · Errors, Tests, Documentation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417320" y="521208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417320" y="521208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600200" y="52120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Demonstration on Live Market Data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40080" y="571500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40080" y="5715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417320" y="5760720"/>
            <a:ext cx="9601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1417320" y="5760720"/>
            <a:ext cx="54864" cy="457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00200" y="57607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Decisions, Limitations, and Future Work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⁄ 16</a:t>
            </a:r>
            <a:endParaRPr lang="en-US" sz="900" dirty="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280160" cy="1280160"/>
          </a:xfrm>
          <a:prstGeom prst="ellipse">
            <a:avLst/>
          </a:prstGeom>
          <a:solidFill>
            <a:srgbClr val="7B1E2D">
              <a:alpha val="1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5669280"/>
            <a:ext cx="731520" cy="731520"/>
          </a:xfrm>
          <a:prstGeom prst="ellipse">
            <a:avLst/>
          </a:prstGeom>
          <a:solidFill>
            <a:srgbClr val="0B2545">
              <a:alpha val="8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PROBLEM STATEMENT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Should We Monitor Markets Like Production Systems?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457200" y="210312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377440"/>
            <a:ext cx="5440680" cy="3657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377440"/>
            <a:ext cx="1371600" cy="54864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0175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financial analysis tools treat market data as flat numerical streams.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software engineering, through </a:t>
            </a:r>
            <a:pPr indent="0" marL="0">
              <a:spcAft>
                <a:spcPts val="600"/>
              </a:spcAft>
              <a:buNone/>
            </a:pPr>
            <a:r>
              <a:rPr lang="en-US" sz="1300" b="1" i="1" dirty="0">
                <a:solidFill>
                  <a:srgbClr val="F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has solved the same fundamental problem for distributed systems: structured detection, aggregation, and alerting on time-series anomalies.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2377440"/>
            <a:ext cx="54406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377440"/>
            <a:ext cx="1371600" cy="54864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37960" y="30175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are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capital flow. Every observability primitive (traces, metrics, alerts, dashboards) has a direct, useful analogue in quantitative finance.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operationalises this analogy as a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four-module Python package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event-driven, threshold-aware market monitoring.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4023360"/>
            <a:ext cx="365760" cy="3657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⁄ 16</a:t>
            </a:r>
            <a:endParaRPr lang="en-US" sz="900" dirty="0"/>
          </a:p>
        </p:txBody>
      </p:sp>
    </p:spTree>
  </p:cSld>
  <p:clrMapOvr>
    <a:masterClrMapping/>
  </p:clrMapOvr>
  <p:transition spd="med">
    <p:split orient="vert" dir="ou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5486400"/>
            <a:ext cx="1371600" cy="1371600"/>
          </a:xfrm>
          <a:prstGeom prst="ellipse">
            <a:avLst/>
          </a:prstGeom>
          <a:solidFill>
            <a:srgbClr val="0B2545">
              <a:alpha val="5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182880"/>
            <a:ext cx="914400" cy="914400"/>
          </a:xfrm>
          <a:prstGeom prst="ellipse">
            <a:avLst/>
          </a:prstGeom>
          <a:solidFill>
            <a:srgbClr val="7B1E2D">
              <a:alpha val="1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THEORETICAL FOUNDATION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 of Observability, Mapped to Finance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3611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108960"/>
            <a:ext cx="73152" cy="32004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361188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56032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331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 &amp; SPANS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OPENTELEMETRY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3520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events with start, end, severity, and metadata that record what happened in a system.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4800600"/>
            <a:ext cx="3154680" cy="0"/>
          </a:xfrm>
          <a:prstGeom prst="line">
            <a:avLst/>
          </a:prstGeom>
          <a:noFill/>
          <a:ln w="7620">
            <a:solidFill>
              <a:srgbClr val="7B1E2D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892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FINTEL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" y="51663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market anomalies (volatility spikes, volume surges, breakouts, gaps) as time-stamped Signal objects.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89120" y="3054096"/>
            <a:ext cx="3611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0" y="3054096"/>
            <a:ext cx="73152" cy="32004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89120" y="2276856"/>
            <a:ext cx="361188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2441448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505456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6360" y="227685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617720" y="31912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OPENTELEMETRY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617720" y="346557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measurements aggregated over configurable time windows (counters, gauges, histograms).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617720" y="4745736"/>
            <a:ext cx="3154680" cy="0"/>
          </a:xfrm>
          <a:prstGeom prst="line">
            <a:avLst/>
          </a:prstGeom>
          <a:noFill/>
          <a:ln w="7620">
            <a:solidFill>
              <a:srgbClr val="7B1E2D">
                <a:alpha val="5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17720" y="48371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FINTEL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617720" y="5111496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with rolling-window aggregation: SMA, EMA, RSI, Bollinger Bands, Sharpe, Drawdown.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229600" y="3136392"/>
            <a:ext cx="3611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229600" y="3136392"/>
            <a:ext cx="73152" cy="32004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29600" y="2359152"/>
            <a:ext cx="361188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458200" y="2523744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58775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006840" y="23591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ALERTING &amp; SLOs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8458200" y="3273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OPENTELEMETRY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458200" y="35478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rules that fire when service-level objectives are breached.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458200" y="4828032"/>
            <a:ext cx="3154680" cy="0"/>
          </a:xfrm>
          <a:prstGeom prst="line">
            <a:avLst/>
          </a:prstGeom>
          <a:noFill/>
          <a:ln w="7620">
            <a:solidFill>
              <a:srgbClr val="7B1E2D">
                <a:alpha val="5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458200" y="49194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FINTEL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458200" y="519379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rules and SLOs (e.g. 'Sharpe ≥ 1.0' or 'Drawdown ≤ 15%') evaluated against the live MetricsEngine.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⁄ 16</a:t>
            </a:r>
            <a:endParaRPr lang="en-US" sz="900" dirty="0"/>
          </a:p>
        </p:txBody>
      </p:sp>
    </p:spTree>
  </p:cSld>
  <p:clrMapOvr>
    <a:masterClrMapping/>
  </p:clrMapOvr>
  <p:transition spd="med"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1371600"/>
            <a:ext cx="731520" cy="73152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657600"/>
            <a:ext cx="1097280" cy="109728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7315200" y="5852160"/>
            <a:ext cx="45720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 ARCHITECTURE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&amp; Component Composition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21945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5875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yfinance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DataFrame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35204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SignalDetector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Spans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3520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MetricsEngine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Metrics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52560" y="35204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AlertEngine + SLO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Alerting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51960" y="52120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7B1E2D"/>
          </a:solidFill>
          <a:ln w="15875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3434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43400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Multi-panel observability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80760" y="2971800"/>
            <a:ext cx="-4160520" cy="54864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080760" y="2971800"/>
            <a:ext cx="0" cy="54864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080760" y="2971800"/>
            <a:ext cx="4160520" cy="54864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223760" y="3931920"/>
            <a:ext cx="1828800" cy="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920240" y="4343400"/>
            <a:ext cx="3017520" cy="86868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080760" y="4343400"/>
            <a:ext cx="0" cy="86868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241280" y="4343400"/>
            <a:ext cx="-3017520" cy="86868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testable and composable. The Dashboard depends on the other three; the others depend only on a validated OHLCV input.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⁄ 16</a:t>
            </a:r>
            <a:endParaRPr lang="en-US" sz="900" dirty="0"/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365760"/>
            <a:ext cx="822960" cy="82296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5029200"/>
            <a:ext cx="1371600" cy="137160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  ·  SIGNALS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SignalDetector: Market Anomalies as Spans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detected event is a structured object with timing, severity, and metadata, analogous to an OpenTelemetry Span.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i="1" dirty="0">
                <a:solidFill>
                  <a:srgbClr val="7B1E2D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06040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542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Methods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detect_volatility_spikes(): rolling σ above n-std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detect_volume_surges(): volume above multiplier of rolling mean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detect_price_breakouts(): price exceeding Bollinger Band envelope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detect_gap_events(): opening gaps beyond percentage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get_all_signals(): composite detection, time-sorted output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Object Schema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ticker: instrument identifier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signal_type: categorical event class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timestamp: pandas DatetimeIndex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info, warning, or critical (OTel convention)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and threshold: observed magnitude vs. trigger level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contextual dictionary (window size, multiplier, etc.)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⁄ 16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365760"/>
            <a:ext cx="822960" cy="82296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5029200"/>
            <a:ext cx="1371600" cy="137160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II  · 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MetricsEngine: Indicators as Metric Instruments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Lazy-evaluated, internally cached technical indicators with configurable rolling-window aggregation.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i="1" dirty="0">
                <a:solidFill>
                  <a:srgbClr val="7B1E2D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3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06040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542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 Metrics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Moving Average (SMA) and Exponential Moving Average (EMA)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Bands: upper, middle, lower envelopes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 Index (RSI) with safe zero-loss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Sharpe Ratio with configurable risk-free 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with peak/trough date attribution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annualised volatility, daily returns, summary report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Properties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_cache dict prevents redundant recomputation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_check_window() validates window ≤ len(data)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parameter validation via shared core utilities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native pandas Series, composable with downstream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safeguards: NaN handling and division-by-zero guards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⁄ 16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365760"/>
            <a:ext cx="822960" cy="82296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5029200"/>
            <a:ext cx="1371600" cy="137160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III  ·  ALERTS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AlertEngine &amp; SLO: Risk Rules as Reliability Targets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evaluation of MetricsEngine output, modelled on production SRE alerting and Service-Level Objectives.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i="1" dirty="0">
                <a:solidFill>
                  <a:srgbClr val="7B1E2D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3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06040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542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AlertEngine · Triggered Notifications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add_rule(name, metric, condition, threshold, severity)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registered metric extractors (RSI, Sharpe, drawdown, etc.)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evaluate(metrics_engine) returns a list of Alert objects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summary(): human-readable, severity-grouped report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duplicate-name and unknown-metric guards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 · Service-Level Objectives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measurable performance target for a portfolio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returns met-status, current value, target, and margin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SRE error-budget thinking to risk management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targets: 'Sharpe ≥ 1.0' or 'Drawdown ≤ -15%'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with AlertEngine for layered governance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⁄ 16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365760"/>
            <a:ext cx="822960" cy="82296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5029200"/>
            <a:ext cx="1371600" cy="137160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IV  · 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A Single-Pane-of-Glass for Risk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matplotlib composition modelled on Grafana, uniting price, indicators, volume, health, and alerts.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i="1" dirty="0">
                <a:solidFill>
                  <a:srgbClr val="7B1E2D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3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06040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542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Panels in One Figure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panel: close-price line with severity-coloured signal markers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panel: SMA, EMA, and Bollinger Band overlay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panel: bars coloured up/down with surge highlights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panel: Sharpe, RSI, drawdown, return, volatility readouts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timeline: horizontal bar view of triggered rules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Cross-Asset Capability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plot_correlation_heatmap(): multi-ticker return correlation matrix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 enables ad-hoc portfolio-level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cells with diverging RdYlGn colormap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each ticker's OHLCV schema before computation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returned matplotlib Figure for further export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⁄ 16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731520" cy="731520"/>
          </a:xfrm>
          <a:prstGeom prst="ellipse">
            <a:avLst/>
          </a:prstGeom>
          <a:solidFill>
            <a:srgbClr val="7B1E2D">
              <a:alpha val="1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5486400"/>
            <a:ext cx="1280160" cy="128016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ENGINEERING PRACTICES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Design: A Custom Exception Hierarchy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607040" y="118872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6974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FintelError  (base)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154680" y="3383280"/>
            <a:ext cx="-1691640" cy="411480"/>
          </a:xfrm>
          <a:prstGeom prst="line">
            <a:avLst/>
          </a:prstGeom>
          <a:noFill/>
          <a:ln w="15875">
            <a:solidFill>
              <a:srgbClr val="7B1E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3383280"/>
            <a:ext cx="91440" cy="411480"/>
          </a:xfrm>
          <a:prstGeom prst="line">
            <a:avLst/>
          </a:prstGeom>
          <a:noFill/>
          <a:ln w="15875">
            <a:solidFill>
              <a:srgbClr val="7B1E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383280"/>
            <a:ext cx="1828800" cy="411480"/>
          </a:xfrm>
          <a:prstGeom prst="line">
            <a:avLst/>
          </a:prstGeom>
          <a:noFill/>
          <a:ln w="15875">
            <a:solidFill>
              <a:srgbClr val="7B1E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7947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DataValidationError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31720" y="37947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33172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InsufficientDataError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69080" y="379476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06908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InvalidParameterError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54880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DataValidationError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schema, type, or shape violations on the input DataFrame.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InsufficientDataError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request exceeds available history (e.g. window &gt; len).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InvalidParameterError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out-of-range or wrong-type function arguments.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722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HIERARCHY?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72200" y="2697480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722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76656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Granular catching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6656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can handle a missing column differently from an out-of-range parameter.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200" y="3611880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172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6656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clarity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76656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public method's docstring names the exact exception it raises.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72200" y="4526280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1722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76656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Inheritance benefits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766560" y="4800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FintelError catches the entire family, convenient for orchestration.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72200" y="5440680"/>
            <a:ext cx="457200" cy="45720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17220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76656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766560" y="5715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path is exercised in the validation suite, with zero silent failures.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⁄ 16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365760"/>
            <a:ext cx="914400" cy="91440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-457200" y="5852160"/>
            <a:ext cx="457200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ENGINEERING PRACTICES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Strategy &amp; Test Coverage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331720"/>
            <a:ext cx="26060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468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331720"/>
            <a:ext cx="26060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2468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338328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2331720"/>
            <a:ext cx="26060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2468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21792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05256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052560" y="2331720"/>
            <a:ext cx="26060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2560" y="2468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905256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TESTING APPROACH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251960"/>
            <a:ext cx="5440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4251960"/>
            <a:ext cx="73152" cy="201168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4389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Happy-Path Verification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" y="48006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seed-controlled OHLCV data with known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anomalies (volatility, volume, gap) for deterministic 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counts, metric values, and SLO outcomes asserted explicitly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2200" y="4251960"/>
            <a:ext cx="5440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72200" y="4251960"/>
            <a:ext cx="73152" cy="201168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4389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Failure-Mode Verification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0" y="48006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 (string DataFrame, non-numeric columns)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missing columns / insufficient observations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or non-integer windows, invalid severity or condition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alert names, unknown metrics, evaluate() with wrong type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⁄ 16</a:t>
            </a:r>
            <a:endParaRPr lang="en-US" sz="900" dirty="0"/>
          </a:p>
        </p:txBody>
      </p:sp>
    </p:spTree>
  </p:cSld>
  <p:clrMapOvr>
    <a:masterClrMapping/>
  </p:clrMapOvr>
  <p:transition spd="med"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365760"/>
            <a:ext cx="914400" cy="91440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315200" y="182880"/>
            <a:ext cx="457200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 EMPIRICAL DEMONSTRATION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Pipeline on AAPL: One Year of Trading Data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 against twelve months of yfinance OHLCV data, run on the same code path as the test suite.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61872" y="2468880"/>
            <a:ext cx="731520" cy="731520"/>
          </a:xfrm>
          <a:prstGeom prst="ellipse">
            <a:avLst/>
          </a:prstGeom>
          <a:solidFill>
            <a:srgbClr val="7B1E2D">
              <a:alpha val="2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25880" y="2532888"/>
            <a:ext cx="594360" cy="59436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325880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yfinance.download(): 1 yr OHLCV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75304" y="2468880"/>
            <a:ext cx="731520" cy="731520"/>
          </a:xfrm>
          <a:prstGeom prst="ellipse">
            <a:avLst/>
          </a:prstGeom>
          <a:solidFill>
            <a:srgbClr val="7B1E2D">
              <a:alpha val="2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9312" y="2532888"/>
            <a:ext cx="594360" cy="59436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39312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862072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862072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SignalDetector.get_all_signals()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88736" y="2468880"/>
            <a:ext cx="731520" cy="731520"/>
          </a:xfrm>
          <a:prstGeom prst="ellipse">
            <a:avLst/>
          </a:prstGeom>
          <a:solidFill>
            <a:srgbClr val="7B1E2D">
              <a:alpha val="2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52744" y="2532888"/>
            <a:ext cx="594360" cy="59436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52744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175504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75504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MetricsEngine.compute_summary()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02168" y="2468880"/>
            <a:ext cx="731520" cy="731520"/>
          </a:xfrm>
          <a:prstGeom prst="ellipse">
            <a:avLst/>
          </a:prstGeom>
          <a:solidFill>
            <a:srgbClr val="7B1E2D">
              <a:alpha val="2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66176" y="2532888"/>
            <a:ext cx="594360" cy="59436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66176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488936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88936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AlertEngine.evaluate() + SLO.check()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515600" y="2468880"/>
            <a:ext cx="731520" cy="731520"/>
          </a:xfrm>
          <a:prstGeom prst="ellipse">
            <a:avLst/>
          </a:prstGeom>
          <a:solidFill>
            <a:srgbClr val="7B1E2D">
              <a:alpha val="20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579608" y="2532888"/>
            <a:ext cx="594360" cy="59436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579608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802368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802368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Dashboard.render()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697480" y="2834640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010912" y="2834640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324344" y="2834640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637776" y="2834640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OUTCOMES (illustrative, regenerated each run)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89204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48640" y="489204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5029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548640" y="5577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Detected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8640" y="5897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detectors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383280" y="489204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383280" y="489204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383280" y="5029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47" name="Text 44"/>
          <p:cNvSpPr/>
          <p:nvPr/>
        </p:nvSpPr>
        <p:spPr>
          <a:xfrm>
            <a:off x="3383280" y="5577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Evaluated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3383280" y="5897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σ, drawdown, etc.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217920" y="489204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217920" y="489204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17920" y="5029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52" name="Text 49"/>
          <p:cNvSpPr/>
          <p:nvPr/>
        </p:nvSpPr>
        <p:spPr>
          <a:xfrm>
            <a:off x="6217920" y="5577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Checked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217920" y="5897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DD, RSI floor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052560" y="489204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052560" y="489204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52560" y="5029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57" name="Text 54"/>
          <p:cNvSpPr/>
          <p:nvPr/>
        </p:nvSpPr>
        <p:spPr>
          <a:xfrm>
            <a:off x="9052560" y="5577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Panels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9052560" y="5897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single-figure render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⁄ 16</a:t>
            </a:r>
            <a:endParaRPr lang="en-US" sz="900" dirty="0"/>
          </a:p>
        </p:txBody>
      </p:sp>
    </p:spTree>
  </p:cSld>
  <p:clrMapOvr>
    <a:masterClrMapping/>
  </p:clrMapOvr>
  <p:transition spd="med">
    <p:split orient="horz" dir="ou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5943600"/>
            <a:ext cx="1371600" cy="1371600"/>
          </a:xfrm>
          <a:prstGeom prst="ellipse">
            <a:avLst/>
          </a:prstGeom>
          <a:solidFill>
            <a:srgbClr val="7B1E2D">
              <a:alpha val="6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0" y="914400"/>
            <a:ext cx="914400" cy="914400"/>
          </a:xfrm>
          <a:prstGeom prst="ellipse">
            <a:avLst/>
          </a:prstGeom>
          <a:solidFill>
            <a:srgbClr val="0B2545">
              <a:alpha val="5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 EMPIRICAL DEMONSTRATION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Composition: Five Coordinated Panels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6766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676656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23160"/>
            <a:ext cx="164592" cy="164592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423160"/>
            <a:ext cx="164592" cy="16459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2423160"/>
            <a:ext cx="164592" cy="16459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331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· AAPL · 1Y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6583680" cy="3520440"/>
          </a:xfrm>
          <a:prstGeom prst="rect">
            <a:avLst/>
          </a:prstGeom>
          <a:solidFill>
            <a:srgbClr val="06182E"/>
          </a:solidFill>
          <a:ln w="12700">
            <a:solidFill>
              <a:srgbClr val="0618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26080"/>
            <a:ext cx="3154680" cy="13258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260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+  SIGNAL ANNOTATIONS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77640" y="2926080"/>
            <a:ext cx="3154680" cy="13258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29260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" y="4297680"/>
            <a:ext cx="3154680" cy="128016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·  UP / DOWN / SURGE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77640" y="4297680"/>
            <a:ext cx="3154680" cy="128016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42976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6355080" cy="59436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23560"/>
            <a:ext cx="6355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TIMELINE</a:t>
            </a:r>
            <a:endParaRPr lang="en-US" sz="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46120"/>
            <a:ext cx="3154680" cy="86868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3977640" y="2926080"/>
            <a:ext cx="3154680" cy="13258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589520" y="2331720"/>
            <a:ext cx="40233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589520" y="2331720"/>
            <a:ext cx="73152" cy="406908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7724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READING ORDER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7724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18388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18388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line with severity-coloured anomaly markers.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7724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18388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Indicators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818388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SMA, EMA, and Bollinger envelope on a single axis.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7724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818388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81838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Up/down colouring with volume-surge highlights.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777240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8183880" y="4937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8183880" y="5212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RSI, drawdown, return, all colour-coded.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777240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818388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 Timeline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818388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rules sorted by severity for triage.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⁄ 16</a:t>
            </a:r>
            <a:endParaRPr lang="en-US" sz="900" dirty="0"/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65760"/>
            <a:ext cx="822960" cy="822960"/>
          </a:xfrm>
          <a:prstGeom prst="ellipse">
            <a:avLst/>
          </a:prstGeom>
          <a:solidFill>
            <a:srgbClr val="7B1E2D">
              <a:alpha val="8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5852160"/>
            <a:ext cx="1280160" cy="1280160"/>
          </a:xfrm>
          <a:prstGeom prst="ellipse">
            <a:avLst/>
          </a:prstGeom>
          <a:solidFill>
            <a:srgbClr val="0B2545">
              <a:alpha val="5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 DESIGN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Trade-offs and Engineering Rationale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331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Object-oriented over functional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2651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owns mutable state (cached metrics, accumulated signals, registered rules), so OOP is the more honest abstraction.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200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Lazy evaluation with caching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80160" y="3520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are computed on first request and stored. SMA used by Bollinger Bands and the dashboard is therefore calculated once.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069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Fail-loud, not fail-quiet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4389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method validates inputs up front and raises a typed FintelError subclass. Silent NaNs would compromise downstream alerting.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9377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Composability over a god-object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8016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accepts an external MetricsEngine and pre-computed signals/alerts rather than reconstructing them, which keeps it testable in isolation.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978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mapping made explicit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280160" y="6126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strings (info, warning, critical) and SLO terminology are imported deliberately so the analogy is reviewable, not implicit.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⁄ 16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7B1E2D">
              <a:alpha val="5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6035040"/>
            <a:ext cx="914400" cy="914400"/>
          </a:xfrm>
          <a:prstGeom prst="ellipse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 LIMITATIONS &amp; FUTURE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91440" cy="91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 Not Solve, Yet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5440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544068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ACKNOWLEDGED LIMITATIONS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signal detection. No forecasting layer, by design.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Single-frequency analysis. Daily bars only; intraday tick data would need a streaming refactor.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thresholds. Alert rules are user-set rather than statistically learned.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dependency. Survivorship bias and free-tier rate limits are inherited.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layer. Signals and alerts live only for the lifetime of the process.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331720"/>
            <a:ext cx="5440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31720"/>
            <a:ext cx="5440680" cy="5943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331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FOR FUTURE ITERATIONS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thresholds. Replace fixed σ multipliers with rolling-window quantile estimators.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mode. Push-based signal emission via Python asyncio for live tick feeds.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Persistence. Write signals and alerts to a SQLite store for historical replay.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OTel exporter. Emit fintel signals as actual OpenTelemetry spans for SRE tooling.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SLOs. Multi-asset reliability targets with weighting.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720840"/>
            <a:ext cx="1463040" cy="13716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·  Financial Telemetry &amp; Observability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⁄ 16</a:t>
            </a:r>
            <a:endParaRPr lang="en-US" sz="900" dirty="0"/>
          </a:p>
        </p:txBody>
      </p:sp>
    </p:spTree>
  </p:cSld>
  <p:clrMapOvr>
    <a:masterClrMapping/>
  </p:clrMapOvr>
  <p:transition spd="med">
    <p:cover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-1371600" y="-1371600"/>
            <a:ext cx="5029200" cy="5029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7315200" y="1828800"/>
            <a:ext cx="4572000" cy="457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" y="5486400"/>
            <a:ext cx="11430000" cy="9144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515600" y="457200"/>
            <a:ext cx="1280160" cy="1280160"/>
          </a:xfrm>
          <a:prstGeom prst="ellipse">
            <a:avLst/>
          </a:prstGeom>
          <a:solidFill>
            <a:srgbClr val="7B1E2D">
              <a:alpha val="85000"/>
            </a:srgbClr>
          </a:solidFill>
          <a:ln w="12700">
            <a:solidFill>
              <a:srgbClr val="7B1E2D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1521440" y="1554480"/>
            <a:ext cx="365760" cy="36576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1795760" y="0"/>
            <a:ext cx="365760" cy="68580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91440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914400" y="1188720"/>
            <a:ext cx="9144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1440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 are systems.</a:t>
            </a:r>
            <a:endParaRPr lang="en-US" sz="5000" dirty="0"/>
          </a:p>
        </p:txBody>
      </p:sp>
      <p:sp>
        <p:nvSpPr>
          <p:cNvPr id="12" name="Text 7"/>
          <p:cNvSpPr/>
          <p:nvPr/>
        </p:nvSpPr>
        <p:spPr>
          <a:xfrm>
            <a:off x="91440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them that way.</a:t>
            </a:r>
            <a:endParaRPr lang="en-US" sz="5000" dirty="0"/>
          </a:p>
        </p:txBody>
      </p:sp>
      <p:sp>
        <p:nvSpPr>
          <p:cNvPr id="13" name="Text 8"/>
          <p:cNvSpPr/>
          <p:nvPr/>
        </p:nvSpPr>
        <p:spPr>
          <a:xfrm>
            <a:off x="914400" y="3520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demonstrates that the engineering vocabulary of modern observability (spans, metrics, alerts, dashboards, SLOs) is not metaphor but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applicable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infrastructure for quantitative finance.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14400" y="4937760"/>
            <a:ext cx="2468880" cy="54864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14400" y="5029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91440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657600" y="4937760"/>
            <a:ext cx="2468880" cy="54864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0" y="5029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365760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0" y="4937760"/>
            <a:ext cx="2468880" cy="54864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0" y="5029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640080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LIBRARIES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44000" y="4937760"/>
            <a:ext cx="2468880" cy="54864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0" y="5029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914400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 ·   Questions are welcome.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FE 520 · Spring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fintel: Financial Telemetry &amp; Observability</dc:title>
  <dc:subject>PptxGenJS Presentation</dc:subject>
  <dc:creator>FE 520 Final Project</dc:creator>
  <cp:lastModifiedBy>FE 520 Final Project</cp:lastModifiedBy>
  <cp:revision>1</cp:revision>
  <dcterms:created xsi:type="dcterms:W3CDTF">2026-05-13T19:13:42Z</dcterms:created>
  <dcterms:modified xsi:type="dcterms:W3CDTF">2026-05-13T19:13:42Z</dcterms:modified>
</cp:coreProperties>
</file>