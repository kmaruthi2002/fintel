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520  |  FINANCIAL ENGINEERING IN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fintel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Telemetry &amp; Observability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109728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OpenTelemetry-Inspired Python Package for Quantitative Market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Maruthi Kunchala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520 — Stevens Institute of Technology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0" y="5989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26,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 of 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10332720" cy="0"/>
          </a:xfrm>
          <a:prstGeom prst="line">
            <a:avLst/>
          </a:prstGeom>
          <a:noFill/>
          <a:ln w="6350">
            <a:solidFill>
              <a:srgbClr val="7B1E2D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423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Foundation: The Three Pillars of Observability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0332720" cy="0"/>
          </a:xfrm>
          <a:prstGeom prst="line">
            <a:avLst/>
          </a:prstGeom>
          <a:noFill/>
          <a:ln w="6350">
            <a:solidFill>
              <a:srgbClr val="7B1E2D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10332720" cy="0"/>
          </a:xfrm>
          <a:prstGeom prst="line">
            <a:avLst/>
          </a:prstGeom>
          <a:noFill/>
          <a:ln w="6350">
            <a:solidFill>
              <a:srgbClr val="7B1E2D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 — Signals, Metrics, Alerts, Dashboard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10332720" cy="0"/>
          </a:xfrm>
          <a:prstGeom prst="line">
            <a:avLst/>
          </a:prstGeom>
          <a:noFill/>
          <a:ln w="6350">
            <a:solidFill>
              <a:srgbClr val="7B1E2D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Practices — Error Handling, Testing, Documentation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4400" y="4709160"/>
            <a:ext cx="10332720" cy="0"/>
          </a:xfrm>
          <a:prstGeom prst="line">
            <a:avLst/>
          </a:prstGeom>
          <a:noFill/>
          <a:ln w="6350">
            <a:solidFill>
              <a:srgbClr val="7B1E2D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00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4800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Demonstration on Live Market Data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4400" y="5303520"/>
            <a:ext cx="10332720" cy="0"/>
          </a:xfrm>
          <a:prstGeom prst="line">
            <a:avLst/>
          </a:prstGeom>
          <a:noFill/>
          <a:ln w="6350">
            <a:solidFill>
              <a:srgbClr val="7B1E2D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394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7B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1640" y="5394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Decisions, Limitations, and Future Work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Should We Monitor Stocks Like Production Systems?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financial analysis tools treat market data as flat numerical streams.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software engineering — through </a:t>
            </a:r>
            <a:pPr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has solved the same fundamental problem for distributed systems: </a:t>
            </a:r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detection, aggregation, and alerting on time-series anomalies.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0" cy="429768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are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capital flow. Every observability primitive — traces, metrics, alerts, dashboards — has a direct, useful analogue in quantitative finance.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operationalises this analogy as 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four-module Python package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event-driven, threshold-aware market monitoring.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THEORETICAL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Pillars of Observability — Mapped to Finance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61188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214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574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TRACES &amp; SPANS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6118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743200"/>
            <a:ext cx="73152" cy="3520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OpenTelemetry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1546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events with start, end, severity, and metadata that record what happened in a system.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4434840"/>
            <a:ext cx="3154680" cy="0"/>
          </a:xfrm>
          <a:prstGeom prst="line">
            <a:avLst/>
          </a:prstGeom>
          <a:noFill/>
          <a:ln w="6350">
            <a:solidFill>
              <a:srgbClr val="7B1E2D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fintel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48006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market anomalies — volatility spikes, volume surges, price breakouts, opening gaps — as time-stamped Signal objects.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89120" y="2011680"/>
            <a:ext cx="361188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2140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66360" y="20574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389120" y="2743200"/>
            <a:ext cx="36118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89120" y="2743200"/>
            <a:ext cx="73152" cy="3520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1772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OpenTelemetry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617720" y="31546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measurements aggregated over configurable time windows (counters, gauges, histograms).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617720" y="4434840"/>
            <a:ext cx="3154680" cy="0"/>
          </a:xfrm>
          <a:prstGeom prst="line">
            <a:avLst/>
          </a:prstGeom>
          <a:noFill/>
          <a:ln w="6350">
            <a:solidFill>
              <a:srgbClr val="7B1E2D">
                <a:alpha val="5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17720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fintel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617720" y="48006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 with rolling-window aggregation: SMA, EMA, RSI, Bollinger Bands, Sharpe Ratio, Maximum Drawdown.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229600" y="2011680"/>
            <a:ext cx="361188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21408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006840" y="20574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ALERTING &amp; SLOs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229600" y="2743200"/>
            <a:ext cx="36118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229600" y="2743200"/>
            <a:ext cx="73152" cy="352044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582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OpenTelemetry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458200" y="31546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rules that fire when service-level objectives are breached.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458200" y="4434840"/>
            <a:ext cx="3154680" cy="0"/>
          </a:xfrm>
          <a:prstGeom prst="line">
            <a:avLst/>
          </a:prstGeom>
          <a:noFill/>
          <a:ln w="6350">
            <a:solidFill>
              <a:srgbClr val="7B1E2D">
                <a:alpha val="5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458200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fintel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458200" y="48006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rules and SLOs — e.g. 'Sharpe ≥ 1.0' or 'Drawdown ≤ 15%' — evaluated against the live MetricsEngine.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&amp; Component Composition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1965960"/>
            <a:ext cx="2286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yfinance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DataFrame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SignalDetector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Spans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324612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Metrics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32461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AlertEngine + SLO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Alerting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4983480"/>
            <a:ext cx="3657600" cy="868680"/>
          </a:xfrm>
          <a:prstGeom prst="rect">
            <a:avLst/>
          </a:prstGeom>
          <a:solidFill>
            <a:srgbClr val="7B1E2D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5486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Multi-panel observability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743200"/>
            <a:ext cx="-4160520" cy="50292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80760" y="2743200"/>
            <a:ext cx="0" cy="50292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2743200"/>
            <a:ext cx="4160520" cy="50292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3657600"/>
            <a:ext cx="1828800" cy="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20240" y="4069080"/>
            <a:ext cx="3017520" cy="91440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80760" y="4069080"/>
            <a:ext cx="0" cy="91440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41280" y="4069080"/>
            <a:ext cx="-3017520" cy="914400"/>
          </a:xfrm>
          <a:prstGeom prst="line">
            <a:avLst/>
          </a:prstGeom>
          <a:noFill/>
          <a:ln w="22225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independently testable and composable. The Dashboard depends on the other three; the others depend only on a validated OHLCV input.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MODULE I — SIGNALS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SignalDetector: Market Anomalies as Spans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detected event is a structured object with timing, severity, and metadata — analogous to an OpenTelemetry Span.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420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Methods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detect_volatility_spikes() — rolling σ above n-std threshold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detect_volume_surges() — volume above multiplier of rolling mean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detect_price_breakouts() — price exceeding Bollinger Band envelope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detect_gap_events() — opening gaps beyond percentage threshold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get_all_signals() — composite detection, time-sorted output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37744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Object Schema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— instrument identifier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signal_type — categorical event class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— pandas DatetimeIndex value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— info / warning / critical (OTel convention)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threshold — observed magnitude vs. trigger level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— contextual dictionary (window size, multiplier, …)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MODULE II —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MetricsEngine: Indicators as Metric Instruments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Lazy-evaluated, internally cached technical indicators with configurable rolling-window aggregation.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420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 Metrics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Moving Average (SMA) and Exponential Moving Average (EMA)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 — upper, middle, lower envelopes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Strength Index (RSI) with safe zero-loss handling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Sharpe Ratio with configurable risk-free rate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with peak/trough date attribution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annualised volatility, daily returns, summary report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37744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Properties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_cache dict prevents redundant recomputation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_check_window() validates window ≤ len(data)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parameter validation via shared core utilities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native pandas Series — composable with downstream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safeguards: NaN handling and division-by-zero guards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MODULE III — ALERTS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AlertEngine &amp; SLO: Risk Rules as Reliability Targets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evaluation of MetricsEngine output, modelled on production SRE alerting and Service-Level Objectives.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420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AlertEngine — Triggered Notifications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add_rule(name, metric, condition, threshold, severity)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registered metric extractors (RSI, Sharpe, drawdown, 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evaluate(metrics_engine) → list of Alert objects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summary() — human-readable, severity-grouped report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duplicate-name and unknown-metric guards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37744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 — Service-Level Objectives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measurable performance target for a portfolio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check() returns met-status, current value, target, and margin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SRE error-budget thinking to risk management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'Sharpe ≥ 1.0' or 'Drawdown ≤ -15%'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with AlertEngine for layered governance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MODULE IV —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Dashboard: A Single-Pane-of-Glass for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Multi-panel matplotlib composition modelled on Grafana — uniting price, indicators, volume, health, and alerts.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420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Panels in One Figure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panel — close-price line with severity-coloured signal markers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panel — SMA, EMA, and Bollinger Band overlay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panel — bars coloured up/down with surge highlights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panel — Sharpe, RSI, drawdown, return, volatility readouts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timeline — horizontal bar view of triggered rules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37744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377440"/>
            <a:ext cx="73152" cy="38862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Cross-Asset Capability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30175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plot_correlation_heatmap() — multi-ticker return correlation matrix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 enables ad-hoc portfolio-level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cells with diverging RdYlGn colormap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each ticker's OHLCV schema before computation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returned matplotlib Figure for further export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 ENGINEERING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 Design: A Custom Exception Hierarchy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21208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FintelError  (base)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54680" y="2971800"/>
            <a:ext cx="-1691640" cy="411480"/>
          </a:xfrm>
          <a:prstGeom prst="line">
            <a:avLst/>
          </a:prstGeom>
          <a:noFill/>
          <a:ln w="12700">
            <a:solidFill>
              <a:srgbClr val="7B1E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2971800"/>
            <a:ext cx="91440" cy="411480"/>
          </a:xfrm>
          <a:prstGeom prst="line">
            <a:avLst/>
          </a:prstGeom>
          <a:noFill/>
          <a:ln w="12700">
            <a:solidFill>
              <a:srgbClr val="7B1E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2971800"/>
            <a:ext cx="1828800" cy="411480"/>
          </a:xfrm>
          <a:prstGeom prst="line">
            <a:avLst/>
          </a:prstGeom>
          <a:noFill/>
          <a:ln w="12700">
            <a:solidFill>
              <a:srgbClr val="7B1E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83280"/>
            <a:ext cx="1691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DataValidationError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3383280"/>
            <a:ext cx="1691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383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InsufficientDataError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3383280"/>
            <a:ext cx="16916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3383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InvalidParameterError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DataValidationError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schema, type, or shape violations on the input DataFrame.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InsufficientDataError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request exceeds available history (e.g. window &gt; len).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InvalidParameterError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out-of-range or wrong-type function arguments.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Hierarchy?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Granular catching.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can handle a missing column differently than an out-of-range parameter.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Contract clarity.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public method's docstring names the exact exception it raises.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Inheritance benefits.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FintelError catches the entire family — convenient for top-level orchestration code.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Tested.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path is exercised in the validation suite — zero silent failures.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 ENGINEERING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Strategy &amp; Test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13258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06040" cy="13258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057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606040" cy="13258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057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Paths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011680"/>
            <a:ext cx="2606040" cy="13258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2057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5256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Covered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Testing Approach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5440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31920"/>
            <a:ext cx="73152" cy="2331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Happy-Path Verification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seed-controlled OHLCV data with known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anomalies (volatility, volume, gap) for deterministic detection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counts, metric values, and SLO outcomes asserted explicitly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931920"/>
            <a:ext cx="5440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931920"/>
            <a:ext cx="73152" cy="2331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Failure-Mode Verification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48056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 (string DataFrame, non-numeric columns)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/ missing columns / insufficient observations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or non-integer windows, invalid severity / condition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alert names, unknown metric, evaluate() with wrong type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 EMPIRICAL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Pipeline on AAPL — One Year of Trading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execution against twelve months of yfinance OHLCV data. The same code path that powers tests is run unmodified on production-shape input.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25880" y="2514600"/>
            <a:ext cx="594360" cy="594360"/>
          </a:xfrm>
          <a:prstGeom prst="oval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yfinance.download() — 1 yr OHLCV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39312" y="2514600"/>
            <a:ext cx="594360" cy="594360"/>
          </a:xfrm>
          <a:prstGeom prst="oval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62072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62072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SignalDetector.get_all_signals()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52744" y="2514600"/>
            <a:ext cx="594360" cy="594360"/>
          </a:xfrm>
          <a:prstGeom prst="oval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75504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75504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MetricsEngine.compute_summary()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66176" y="2514600"/>
            <a:ext cx="594360" cy="594360"/>
          </a:xfrm>
          <a:prstGeom prst="oval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88936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88936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AlertEngine.evaluate() + SLO.check()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579608" y="2514600"/>
            <a:ext cx="594360" cy="594360"/>
          </a:xfrm>
          <a:prstGeom prst="oval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79608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802368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02368" y="3566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Dashboard.render()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97480" y="2807208"/>
            <a:ext cx="164592" cy="0"/>
          </a:xfrm>
          <a:prstGeom prst="line">
            <a:avLst/>
          </a:prstGeom>
          <a:noFill/>
          <a:ln w="19050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10912" y="2807208"/>
            <a:ext cx="164592" cy="0"/>
          </a:xfrm>
          <a:prstGeom prst="line">
            <a:avLst/>
          </a:prstGeom>
          <a:noFill/>
          <a:ln w="19050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24344" y="2807208"/>
            <a:ext cx="164592" cy="0"/>
          </a:xfrm>
          <a:prstGeom prst="line">
            <a:avLst/>
          </a:prstGeom>
          <a:noFill/>
          <a:ln w="19050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37776" y="2807208"/>
            <a:ext cx="164592" cy="0"/>
          </a:xfrm>
          <a:prstGeom prst="line">
            <a:avLst/>
          </a:prstGeom>
          <a:noFill/>
          <a:ln w="19050">
            <a:solidFill>
              <a:srgbClr val="7B1E2D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8640" y="4434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Outcomes (illustrative, regenerated each run)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800600"/>
            <a:ext cx="2697480" cy="7315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937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48640" y="5532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Detected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5852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detectors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480060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4800600"/>
            <a:ext cx="2697480" cy="7315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937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3383280" y="5532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Evaluated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83280" y="5852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σ, drawdown, …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80060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4800600"/>
            <a:ext cx="2697480" cy="7315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4937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217920" y="5532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Checked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7920" y="5852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DD, RSI floor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052560" y="480060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52560" y="4800600"/>
            <a:ext cx="2697480" cy="7315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2560" y="4937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9052560" y="5532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Panels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052560" y="5852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single-figure render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 EMPIRICAL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Composition — Five Coordinated Panels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6035040" cy="4297680"/>
          </a:xfrm>
          <a:prstGeom prst="rect">
            <a:avLst/>
          </a:prstGeom>
          <a:solidFill>
            <a:srgbClr val="06182E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2834640" cy="132588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SIGNAL ANNOTATIONS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834640" cy="132588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488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2834640" cy="132588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6616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(UP / DOWN / SURGE)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11880" y="3566160"/>
            <a:ext cx="2834640" cy="132588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356616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STATUS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4983480"/>
            <a:ext cx="5715000" cy="1097280"/>
          </a:xfrm>
          <a:prstGeom prst="rect">
            <a:avLst/>
          </a:prstGeom>
          <a:solidFill>
            <a:srgbClr val="0B2545"/>
          </a:solidFill>
          <a:ln w="9525">
            <a:solidFill>
              <a:srgbClr val="7B1E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83480"/>
            <a:ext cx="5715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Reading Order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3774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Price.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line with severity-coloured anomaly markers.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Indicators.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SMA, EMA, and Bollinger envelope on a single axis.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Volume.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Up/down colouring with volume-surge highlights.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Health.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RSI band, drawdown, return — colour-coded.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Alert Timeline.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rules sorted by severity for triage.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 DESIGN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Trade-offs and Engineering Rationale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39112"/>
            <a:ext cx="164592" cy="16459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Object-oriented over functional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500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owns mutable state — cached metrics, accumulated signals, registered rules — making OOP the more honest abstraction.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164592" cy="16459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80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Lazy evaluation with caching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2644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are computed on first request and stored. SMA used by Bollinger Bands and the dashboard is therefore calculated once.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164592" cy="16459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94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Fail-loud, not fail-quiet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178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method validates inputs up front and raises a typed FintelError subclass — silent NaNs would compromise downstream alerting.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82312"/>
            <a:ext cx="164592" cy="16459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09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Composability over a god-object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0932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accepts an external MetricsEngine and pre-computed signals/alerts rather than reconstructing them — testable in isolation.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696712"/>
            <a:ext cx="164592" cy="164592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623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mapping made explicit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60076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strings (info / warning / critical) and the SLO terminology are imported deliberately to make the analogy reviewable, not implicit.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 LIMITATIONS &amp;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Did Not Solve —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572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5440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429768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Acknowledged Limitations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074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signal detection — no forecasting layer is included by design.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Single-frequency analysis — daily bars only; intraday tick data would require streaming refactor.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thresholds — alert rules are user-set rather than statistically learned.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dependency — survivorship bias and free-tier rate limits are inherited.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layer — signals/alerts live for the lifetime of a process.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440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965960"/>
            <a:ext cx="73152" cy="429768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for Future Iterations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5074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thresholds — replace fixed σ multipliers with rolling-window quantile estimators.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mode — push-based signal emission via Python asyncio for live tick feeds.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write signals and alerts to a SQLite store for historical replay.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OTel exporter — emit fintel signals as actual OpenTelemetry spans for SRE tooling.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SLOs — multi-asset reliability targets with weighting.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7B1E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  |  Financial Telemetry &amp; Observability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Markets are systems. Treat them that way.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fintel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demonstrates that the engineering vocabulary of modern observability — spans, metrics, alerts, dashboards, SLOs — is not metaphor but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applicable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infrastructure for quantitative finance.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468880" cy="36576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5577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4846320"/>
            <a:ext cx="2468880" cy="36576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0" y="5577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4846320"/>
            <a:ext cx="2468880" cy="36576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5577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LIBRARIES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4846320"/>
            <a:ext cx="2468880" cy="36576"/>
          </a:xfrm>
          <a:prstGeom prst="rect">
            <a:avLst/>
          </a:prstGeom>
          <a:solidFill>
            <a:srgbClr val="7B1E2D"/>
          </a:solidFill>
          <a:ln w="12700">
            <a:solidFill>
              <a:srgbClr val="7B1E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44000" y="5577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 BEYOND SCOPE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|  Questions are welcome.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0" y="6126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FE 520 — Spring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fintel: Financial Telemetry &amp; Observability</dc:title>
  <dc:subject>PptxGenJS Presentation</dc:subject>
  <dc:creator>FE 520 Final Project</dc:creator>
  <cp:lastModifiedBy>FE 520 Final Project</cp:lastModifiedBy>
  <cp:revision>1</cp:revision>
  <dcterms:created xsi:type="dcterms:W3CDTF">2026-04-27T01:03:59Z</dcterms:created>
  <dcterms:modified xsi:type="dcterms:W3CDTF">2026-04-27T01:03:59Z</dcterms:modified>
</cp:coreProperties>
</file>